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"/>
            <a:ext cx="2294403" cy="6035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0" y="27432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1">
                <a:solidFill>
                  <a:srgbClr val="FFFFFF"/>
                </a:solidFill>
              </a:rPr>
              <a:t>Nigerian-Language Support — Investment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86868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BFD8D8"/>
                </a:solidFill>
              </a:rPr>
              <a:t>Prepared for AXA Mansard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91672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0"/>
                <a:gridCol w="3227832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Cost area</a:t>
                      </a:r>
                    </a:p>
                  </a:txBody>
                  <a:tcPr>
                    <a:solidFill>
                      <a:srgbClr val="0A7B7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Indicative (all 4 languages)</a:t>
                      </a:r>
                    </a:p>
                  </a:txBody>
                  <a:tcPr>
                    <a:solidFill>
                      <a:srgbClr val="0A7B7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Translation - general (UI + USSD/WhatsApp + email/SMS)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₦0.8M - 1.4M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Translation - specialist (safety / legal / consent)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₦0.5M - 0.9M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Native-speaker clinician review &amp; sign-off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₦2.0M - 3.0M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In-language safety vocabularies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₦0.3M - 0.5M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Legal review of consent / disclaimers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₦0.6M - 1.2M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Linguistic QA &amp;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₦0.2M - 0.4M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A2A"/>
                          </a:solidFill>
                          <a:latin typeface="Calibri"/>
                        </a:rPr>
                        <a:t>ONE-OFF TOTAL (external, ~$2.8k - 4.6k)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E2A2A"/>
                          </a:solidFill>
                          <a:latin typeface="Calibri"/>
                        </a:rPr>
                        <a:t>₦4.4M - 7.4M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Recurring (ongoing)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₦0.6M - 1.4M /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264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56666"/>
                </a:solidFill>
              </a:rPr>
              <a:t>Indicative planning ranges, not a quote. Cost is driven by clinical &amp; legal review, not software. Rollout: Pidgin -&gt; Hausa -&gt; Yoruba -&gt; Igbo; first language live ~6-8 weeks from go-ahead, all four ~4-5 months.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"/>
            <a:ext cx="2294403" cy="6035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0480" y="27432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1">
                <a:solidFill>
                  <a:srgbClr val="FFFFFF"/>
                </a:solidFill>
              </a:rPr>
              <a:t>Indicative Delivery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86868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i="1">
                <a:solidFill>
                  <a:srgbClr val="BFD8D8"/>
                </a:solidFill>
              </a:rPr>
              <a:t>Prepared for AXA Mansard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65392" y="1874519"/>
            <a:ext cx="20116" cy="3566159"/>
          </a:xfrm>
          <a:prstGeom prst="rect">
            <a:avLst/>
          </a:prstGeom>
          <a:solidFill>
            <a:srgbClr val="E2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12880" y="1874519"/>
            <a:ext cx="20116" cy="3566159"/>
          </a:xfrm>
          <a:prstGeom prst="rect">
            <a:avLst/>
          </a:prstGeom>
          <a:solidFill>
            <a:srgbClr val="E2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02352" y="14813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E27D1E"/>
                </a:solidFill>
              </a:rPr>
              <a:t>Pidgin live ~wk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14813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E27D1E"/>
                </a:solidFill>
              </a:rPr>
              <a:t>All four ~wk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606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50" b="1">
                <a:solidFill>
                  <a:srgbClr val="0E2A2A"/>
                </a:solidFill>
              </a:rPr>
              <a:t>Phase 0 — Foundation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103120"/>
            <a:ext cx="1261872" cy="420624"/>
          </a:xfrm>
          <a:prstGeom prst="roundRect">
            <a:avLst/>
          </a:prstGeom>
          <a:solidFill>
            <a:srgbClr val="55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Wk 1–3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61487"/>
            <a:ext cx="2606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50" b="1">
                <a:solidFill>
                  <a:srgbClr val="0E2A2A"/>
                </a:solidFill>
              </a:rPr>
              <a:t>Phase 1 — Nigerian Pidgin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2761487"/>
            <a:ext cx="2103120" cy="420624"/>
          </a:xfrm>
          <a:prstGeom prst="roundRect">
            <a:avLst/>
          </a:prstGeom>
          <a:solidFill>
            <a:srgbClr val="0A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Wk 3–8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19856"/>
            <a:ext cx="2606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50" b="1">
                <a:solidFill>
                  <a:srgbClr val="0E2A2A"/>
                </a:solidFill>
              </a:rPr>
              <a:t>Phase 2 — Hausa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65392" y="3419856"/>
            <a:ext cx="1682495" cy="420624"/>
          </a:xfrm>
          <a:prstGeom prst="roundRect">
            <a:avLst/>
          </a:prstGeom>
          <a:solidFill>
            <a:srgbClr val="13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Wk 8–12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78224"/>
            <a:ext cx="2606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50" b="1">
                <a:solidFill>
                  <a:srgbClr val="0E2A2A"/>
                </a:solidFill>
              </a:rPr>
              <a:t>Phase 3 — Yoruba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4078224"/>
            <a:ext cx="1682495" cy="420624"/>
          </a:xfrm>
          <a:prstGeom prst="roundRect">
            <a:avLst/>
          </a:prstGeom>
          <a:solidFill>
            <a:srgbClr val="0A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Wk 12–16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36592"/>
            <a:ext cx="2606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50" b="1">
                <a:solidFill>
                  <a:srgbClr val="0E2A2A"/>
                </a:solidFill>
              </a:rPr>
              <a:t>Phase 4 — Igbo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30384" y="4736592"/>
            <a:ext cx="1682495" cy="420624"/>
          </a:xfrm>
          <a:prstGeom prst="roundRect">
            <a:avLst/>
          </a:prstGeom>
          <a:solidFill>
            <a:srgbClr val="13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Wk 16–20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5495543"/>
            <a:ext cx="8412480" cy="16459"/>
          </a:xfrm>
          <a:prstGeom prst="rect">
            <a:avLst/>
          </a:prstGeom>
          <a:solidFill>
            <a:srgbClr val="C8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5550407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56666"/>
                </a:solidFill>
              </a:rPr>
              <a:t>Wk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5550407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56666"/>
                </a:solidFill>
              </a:rPr>
              <a:t>Wk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5550407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56666"/>
                </a:solidFill>
              </a:rPr>
              <a:t>Wk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5550407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56666"/>
                </a:solidFill>
              </a:rPr>
              <a:t>Wk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3184" y="5550407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56666"/>
                </a:solidFill>
              </a:rPr>
              <a:t>Wk 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5550407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556666"/>
                </a:solidFill>
              </a:rPr>
              <a:t>Wk 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56666"/>
                </a:solidFill>
              </a:rPr>
              <a:t>Indicative only; weeks are elapsed time from go-ahead. Pace depends on translator and clinician availability. Each language goes live as it is completed — value starts at ~week 8, not month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