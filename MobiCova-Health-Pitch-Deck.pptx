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vision. "MobiCova Health is digital-health infrastructure for Africa." We give insurers, employers and telcos a way to put real healthcare in their members' hands — a doctor, AI health guidance, and insurance — on any phone, through the partners people already trust. Set the tone: this is infrastructure, not another app. Transition: "Let me start with why this matters."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gap. Across Nigeria and much of Africa, getting to a doctor is slow and costly, and most people have no cover at all. Insurers, employers and telcos WANT to offer health benefits — the demand is real — but they don't have the rails to deliver them at scale, on the channels members actually use (WhatsApp, USSD, not just smartphones). Building it in-house is slow, expensive, and not their core business. Key line: "The demand is there; the rails to deliver care are not." That's the gap we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solution. MobiCova connects members to care: a doctor on a video or voice call, an AI symptom assistant that guides them to the right level of care, and health-linked insurance — all across App, WhatsApp and USSD so it works on any phone. Critical positioning: we do NOT replace the clinic or the insurer. We connect people to care through licensed partners and run the data layer underneath. That makes us a partner to the ecosystem, not a competitor — which is how we scale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member experience — this is what their members feel. (1) Talk to a doctor now — video/voice with licensed clinicians. (2) AI health assistant — triage that points them to the right care. (3) Prescriptions, fulfilled — routed to a pharmacy with pickup or courier delivery and live tracking. (4) Health-linked insurance — enrol, view cover, claim from the phone. (5) Any phone, any channel — full app plus WhatsApp and USSD for feature phones. Emphasise the last point: inclusion. We reach the 60%+ on basic phones, not just smartphone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to the buyer's view — why an insurer or telco signs. They get a complete, white-label platform live in days, not months: manage members and bulk-import them, a full claims workflow with audit trail, analytics out of the box, their own branding and login, and a ready network of clinics and pharmacies that deliver the care. The closing argument: it would take them a year and a team to build this — and it's not their core business. We are the fastest path to a credible health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differentiator — slow down here. Every participant — underwriters, companies, telcos, clinics, pharmacies — is an Organisation on one platform. Each is managed individually and sees ONLY its own data (strict isolation). But care flows ACROSS them: a member of one org is treated by a doctor in another and gets medicine from a pharmacy in a third — and each party sees only the slice it needs. Why it matters: this is what lets us onboard any partner type and scale to new services and new countries on the same model. It's the moat — secure, multi-tenant, and built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it's real. This isn't a concept deck — it's a working MVP, live and end-to-end. Three channels (App, WhatsApp, USSD). Five-plus organisation types on one unified model. 48 of 48 automated tests passing against the live system. Every role — members, doctors, pharmacists, partners, and platform admins — has a fully functioning experience today. And it's built to extend: new org types, services and markets slot into the same model. Tee up the ask: "We've de-risked the build. What we're raising/partnering for is reach."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mission: connecting Africa to care. We've built the rails; now we scale them across the continent. Make a clear ask appropriate to the audience — investment, a pilot, a distribution partnership — and invite the conversation. End warm and confident: "Let's build this together."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7" y="2148840"/>
            <a:ext cx="4937760" cy="1298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6908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Trebuchet MS"/>
              </a:rPr>
              <a:t>Digital health infrastructure for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FE3E3"/>
                </a:solidFill>
                <a:latin typeface="Calibri"/>
              </a:rPr>
              <a:t>Telemedicine · AI health guidance · Insurance — delivered on every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8FC2C2"/>
                </a:solidFill>
                <a:latin typeface="Calibri"/>
              </a:rPr>
              <a:t>Investor &amp; partner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64592" cy="457200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E8912C"/>
                </a:solidFill>
                <a:latin typeface="Trebuchet MS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A7B7B"/>
                </a:solidFill>
                <a:latin typeface="Trebuchet MS"/>
              </a:rPr>
              <a:t>Quality care is hard to reach — and harder to pay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6035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>
                <a:solidFill>
                  <a:srgbClr val="445A5A"/>
                </a:solidFill>
                <a:latin typeface="Calibri"/>
              </a:rPr>
              <a:t>Across Nigeria and much of Africa, getting to a doctor is slow and costly, and most people have no health cover at all.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700" b="0">
                <a:solidFill>
                  <a:srgbClr val="445A5A"/>
                </a:solidFill>
                <a:latin typeface="Calibri"/>
              </a:rPr>
              <a:t>Insurers, employers and telcos want to offer real health benefits — but lack the technology to deliver them at scale, on the channels their members actually use.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A7B7B"/>
                </a:solidFill>
                <a:latin typeface="Calibri"/>
              </a:rPr>
              <a:t>Building it in-house is slow, expensive, and far from their core business.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74519"/>
            <a:ext cx="4114800" cy="320040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33832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5200" b="1">
                <a:solidFill>
                  <a:srgbClr val="E8912C"/>
                </a:solidFill>
                <a:latin typeface="Trebuchet MS"/>
              </a:rPr>
              <a:t>“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000" b="1">
                <a:solidFill>
                  <a:srgbClr val="0A7B7B"/>
                </a:solidFill>
                <a:latin typeface="Trebuchet MS"/>
              </a:rPr>
              <a:t>The demand is there.
The rails to deliver care are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MobiCova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00800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64592" cy="457200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E8912C"/>
                </a:solidFill>
                <a:latin typeface="Trebuchet M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A7B7B"/>
                </a:solidFill>
                <a:latin typeface="Trebuchet MS"/>
              </a:rPr>
              <a:t>One platform that connects members to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6035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700" b="0">
                <a:solidFill>
                  <a:srgbClr val="445A5A"/>
                </a:solidFill>
                <a:latin typeface="Calibri"/>
              </a:rPr>
              <a:t>MobiCova Health lets insurers, employers and telcos give their members instant access to healthcare — a doctor on a video call, AI symptom guidance, and health-linked insurance.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700" b="0">
                <a:solidFill>
                  <a:srgbClr val="445A5A"/>
                </a:solidFill>
                <a:latin typeface="Calibri"/>
              </a:rPr>
              <a:t>It works across the App, WhatsApp and USSD — so it reaches any phone, not just smartphones.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4114800" cy="3291840"/>
          </a:xfrm>
          <a:prstGeom prst="roundRect">
            <a:avLst/>
          </a:prstGeom>
          <a:solidFill>
            <a:srgbClr val="0A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240280"/>
            <a:ext cx="338328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Trebuchet MS"/>
              </a:rPr>
              <a:t>We don't replace the clinic or the insurer.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CFECEC"/>
                </a:solidFill>
                <a:latin typeface="Calibri"/>
              </a:rPr>
              <a:t>We connect people to care through the licensed partners they already trust — and run the data layer underneath.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MobiCova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00800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64592" cy="457200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E8912C"/>
                </a:solidFill>
                <a:latin typeface="Trebuchet MS"/>
              </a:rPr>
              <a:t>FOR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A7B7B"/>
                </a:solidFill>
                <a:latin typeface="Trebuchet MS"/>
              </a:rPr>
              <a:t>Healthcare in their pocket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7B7B"/>
                </a:solidFill>
                <a:latin typeface="Trebuchet MS"/>
              </a:rPr>
              <a:t>Talk to a doctor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5798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>
                <a:solidFill>
                  <a:srgbClr val="445A5A"/>
                </a:solidFill>
                <a:latin typeface="Calibri"/>
              </a:rPr>
              <a:t>Video or voice consultations with licensed clinicians.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974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7B7B"/>
                </a:solidFill>
                <a:latin typeface="Trebuchet MS"/>
              </a:rPr>
              <a:t>AI health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07238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>
                <a:solidFill>
                  <a:srgbClr val="445A5A"/>
                </a:solidFill>
                <a:latin typeface="Calibri"/>
              </a:rPr>
              <a:t>Symptom checks that guide them to the right level of care.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118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7B7B"/>
                </a:solidFill>
                <a:latin typeface="Trebuchet MS"/>
              </a:rPr>
              <a:t>Prescriptions, fulfilled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8678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>
                <a:solidFill>
                  <a:srgbClr val="445A5A"/>
                </a:solidFill>
                <a:latin typeface="Calibri"/>
              </a:rPr>
              <a:t>Sent to a pharmacy — pickup or courier delivery, with live tracking.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262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7B7B"/>
                </a:solidFill>
                <a:latin typeface="Trebuchet MS"/>
              </a:rPr>
              <a:t>Health-linked 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0118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>
                <a:solidFill>
                  <a:srgbClr val="445A5A"/>
                </a:solidFill>
                <a:latin typeface="Calibri"/>
              </a:rPr>
              <a:t>Enrol, view cover, and submit claims from their phone.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486400"/>
            <a:ext cx="457200" cy="457200"/>
          </a:xfrm>
          <a:prstGeom prst="ellipse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4406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7B7B"/>
                </a:solidFill>
                <a:latin typeface="Trebuchet MS"/>
              </a:rPr>
              <a:t>Any phone, any channel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1558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>
                <a:solidFill>
                  <a:srgbClr val="445A5A"/>
                </a:solidFill>
                <a:latin typeface="Calibri"/>
              </a:rPr>
              <a:t>Full app, plus WhatsApp and USSD for feature phones.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MobiCova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00800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64592" cy="457200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E8912C"/>
                </a:solidFill>
                <a:latin typeface="Trebuchet MS"/>
              </a:rPr>
              <a:t>FOR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A7B7B"/>
                </a:solidFill>
                <a:latin typeface="Trebuchet MS"/>
              </a:rPr>
              <a:t>A white-label health platform, live in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3401568" cy="141732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2167127"/>
            <a:ext cx="146304" cy="38404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112263"/>
            <a:ext cx="2624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0A7B7B"/>
                </a:solidFill>
                <a:latin typeface="Trebuchet MS"/>
              </a:rPr>
              <a:t>Manage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32887"/>
            <a:ext cx="2624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5A5A"/>
                </a:solidFill>
                <a:latin typeface="Calibri"/>
              </a:rPr>
              <a:t>Enrolments, members and bulk import in one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401568" cy="141732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28032" y="2167127"/>
            <a:ext cx="146304" cy="38404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12263"/>
            <a:ext cx="2624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0A7B7B"/>
                </a:solidFill>
                <a:latin typeface="Trebuchet MS"/>
              </a:rPr>
              <a:t>Adjudicate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32887"/>
            <a:ext cx="2624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5A5A"/>
                </a:solidFill>
                <a:latin typeface="Calibri"/>
              </a:rPr>
              <a:t>A full claims workflow with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3401568" cy="141732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85632" y="2167127"/>
            <a:ext cx="146304" cy="38404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112263"/>
            <a:ext cx="2624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0A7B7B"/>
                </a:solidFill>
                <a:latin typeface="Trebuchet MS"/>
              </a:rPr>
              <a:t>Analytics &amp;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32887"/>
            <a:ext cx="2624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5A5A"/>
                </a:solidFill>
                <a:latin typeface="Calibri"/>
              </a:rPr>
              <a:t>Usage, utilisation and reporting out of the 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520439"/>
            <a:ext cx="3401568" cy="141732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70432" y="3813048"/>
            <a:ext cx="146304" cy="38404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758183"/>
            <a:ext cx="2624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0A7B7B"/>
                </a:solidFill>
                <a:latin typeface="Trebuchet MS"/>
              </a:rPr>
              <a:t>Their own brand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78807"/>
            <a:ext cx="2624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5A5A"/>
                </a:solidFill>
                <a:latin typeface="Calibri"/>
              </a:rPr>
              <a:t>White-label colours, logo and a branded login.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20439"/>
            <a:ext cx="3401568" cy="141732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28032" y="3813048"/>
            <a:ext cx="146304" cy="38404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758183"/>
            <a:ext cx="2624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0A7B7B"/>
                </a:solidFill>
                <a:latin typeface="Trebuchet MS"/>
              </a:rPr>
              <a:t>Care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78807"/>
            <a:ext cx="2624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5A5A"/>
                </a:solidFill>
                <a:latin typeface="Calibri"/>
              </a:rPr>
              <a:t>Clinics and pharmacies that deliver the care.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20439"/>
            <a:ext cx="3401568" cy="141732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85632" y="3813048"/>
            <a:ext cx="146304" cy="38404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758183"/>
            <a:ext cx="2624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0A7B7B"/>
                </a:solidFill>
                <a:latin typeface="Trebuchet MS"/>
              </a:rPr>
              <a:t>Switch on 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178807"/>
            <a:ext cx="26243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445A5A"/>
                </a:solidFill>
                <a:latin typeface="Calibri"/>
              </a:rPr>
              <a:t>Days, not months — and not their core business to build.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MobiCova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00800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64592" cy="457200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E8912C"/>
                </a:solidFill>
                <a:latin typeface="Trebuchet MS"/>
              </a:rPr>
              <a:t>WHY IT'S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Trebuchet MS"/>
              </a:rPr>
              <a:t>Every participant is an organisation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3320" y="3529584"/>
            <a:ext cx="1115568" cy="123443"/>
          </a:xfrm>
          <a:prstGeom prst="line">
            <a:avLst/>
          </a:prstGeom>
          <a:ln w="28575">
            <a:solidFill>
              <a:srgbClr val="E891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703320" y="3982211"/>
            <a:ext cx="1115568" cy="598933"/>
          </a:xfrm>
          <a:prstGeom prst="line">
            <a:avLst/>
          </a:prstGeom>
          <a:ln w="28575">
            <a:solidFill>
              <a:srgbClr val="E891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379208" y="3529584"/>
            <a:ext cx="1106424" cy="123443"/>
          </a:xfrm>
          <a:prstGeom prst="line">
            <a:avLst/>
          </a:prstGeom>
          <a:ln w="28575">
            <a:solidFill>
              <a:srgbClr val="E891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79208" y="3982211"/>
            <a:ext cx="1106424" cy="598933"/>
          </a:xfrm>
          <a:prstGeom prst="line">
            <a:avLst/>
          </a:prstGeom>
          <a:ln w="28575">
            <a:solidFill>
              <a:srgbClr val="E891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18888" y="3154680"/>
            <a:ext cx="2560320" cy="1325880"/>
          </a:xfrm>
          <a:prstGeom prst="round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3154680"/>
            <a:ext cx="25603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Trebuchet MS"/>
              </a:rPr>
              <a:t>MobiCova
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8912C"/>
                </a:solidFill>
                <a:latin typeface="Trebuchet MS"/>
              </a:rPr>
              <a:t>DEMAND — OWN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2880360" cy="841248"/>
          </a:xfrm>
          <a:prstGeom prst="roundRect">
            <a:avLst/>
          </a:prstGeom>
          <a:solidFill>
            <a:srgbClr val="0A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Trebuchet MS"/>
              </a:rPr>
              <a:t>Underwriters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844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DFF2F2"/>
                </a:solidFill>
                <a:latin typeface="Calibri"/>
              </a:rPr>
              <a:t>Plans &amp; claims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0520"/>
            <a:ext cx="2880360" cy="841248"/>
          </a:xfrm>
          <a:prstGeom prst="roundRect">
            <a:avLst/>
          </a:prstGeom>
          <a:solidFill>
            <a:srgbClr val="0A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97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Trebuchet MS"/>
              </a:rPr>
              <a:t>Companies &amp; Telcos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3600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DFF2F2"/>
                </a:solidFill>
                <a:latin typeface="Calibri"/>
              </a:rPr>
              <a:t>Enrol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7249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E8912C"/>
                </a:solidFill>
                <a:latin typeface="Trebuchet MS"/>
              </a:rPr>
              <a:t>SUPPLY — DELIVER 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3108960"/>
            <a:ext cx="2880360" cy="841248"/>
          </a:xfrm>
          <a:prstGeom prst="roundRect">
            <a:avLst/>
          </a:prstGeom>
          <a:solidFill>
            <a:srgbClr val="07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3246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Trebuchet MS"/>
              </a:rPr>
              <a:t>Clinics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358444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DFF2F2"/>
                </a:solidFill>
                <a:latin typeface="Calibri"/>
              </a:rPr>
              <a:t>Consultations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5632" y="4160520"/>
            <a:ext cx="2880360" cy="841248"/>
          </a:xfrm>
          <a:prstGeom prst="roundRect">
            <a:avLst/>
          </a:prstGeom>
          <a:solidFill>
            <a:srgbClr val="07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4297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Trebuchet MS"/>
              </a:rPr>
              <a:t>Pharmacies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4636008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DFF2F2"/>
                </a:solidFill>
                <a:latin typeface="Calibri"/>
              </a:rPr>
              <a:t>Dispense &amp; 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32120"/>
            <a:ext cx="98142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CFECEC"/>
                </a:solidFill>
                <a:latin typeface="Calibri"/>
              </a:rPr>
              <a:t>Each organisation is managed individually and sees only its own data — yet care flows across them, with every party seeing only the slice it needs. Secure by design, built to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64592" cy="457200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E8912C"/>
                </a:solidFill>
                <a:latin typeface="Trebuchet MS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A7B7B"/>
                </a:solidFill>
                <a:latin typeface="Trebuchet MS"/>
              </a:rPr>
              <a:t>A working MVP — live, tested, demo-ready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542032" cy="228600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2176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0A7B7B"/>
                </a:solidFill>
                <a:latin typeface="Trebuchet MS"/>
              </a:rP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11880"/>
            <a:ext cx="20848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445A5A"/>
                </a:solidFill>
                <a:latin typeface="Calibri"/>
              </a:rPr>
              <a:t>Live &amp; end-to-end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2194560"/>
            <a:ext cx="2542032" cy="228600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514600"/>
            <a:ext cx="2176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0A7B7B"/>
                </a:solidFill>
                <a:latin typeface="Trebuchet M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11880"/>
            <a:ext cx="20848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445A5A"/>
                </a:solidFill>
                <a:latin typeface="Calibri"/>
              </a:rPr>
              <a:t>Channels: App · WhatsApp · USSD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94560"/>
            <a:ext cx="2542032" cy="228600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14600"/>
            <a:ext cx="2176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0A7B7B"/>
                </a:solidFill>
                <a:latin typeface="Trebuchet MS"/>
              </a:rPr>
              <a:t>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611880"/>
            <a:ext cx="20848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445A5A"/>
                </a:solidFill>
                <a:latin typeface="Calibri"/>
              </a:rPr>
              <a:t>Organisation types, one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2194560"/>
            <a:ext cx="2542032" cy="2286000"/>
          </a:xfrm>
          <a:prstGeom prst="roundRect">
            <a:avLst/>
          </a:prstGeom>
          <a:solidFill>
            <a:srgbClr val="EC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39" y="2514600"/>
            <a:ext cx="21762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0A7B7B"/>
                </a:solidFill>
                <a:latin typeface="Trebuchet MS"/>
              </a:rPr>
              <a:t>48/48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3611880"/>
            <a:ext cx="20848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445A5A"/>
                </a:solidFill>
                <a:latin typeface="Calibri"/>
              </a:rPr>
              <a:t>Automated smoke tests 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445A5A"/>
                </a:solidFill>
                <a:latin typeface="Calibri"/>
              </a:rPr>
              <a:t>Members, doctors, pharmacists, partners and platform administrators each have a fully functioning experience. New organisation types, services and markets slot into the same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MobiCova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0">
                <a:solidFill>
                  <a:srgbClr val="44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9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07" y="2286000"/>
            <a:ext cx="4297680" cy="1130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114800"/>
            <a:ext cx="103628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rebuchet MS"/>
              </a:rPr>
              <a:t>Connecting Africa to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BFE3E3"/>
                </a:solidFill>
                <a:latin typeface="Calibri"/>
              </a:rPr>
              <a:t>Let's build the rails for healthcare across the continent.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